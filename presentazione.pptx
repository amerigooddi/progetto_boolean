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8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5728FE4-00A5-42FE-6939-56E02410202C}"/>
              </a:ext>
            </a:extLst>
          </p:cNvPr>
          <p:cNvSpPr txBox="1"/>
          <p:nvPr/>
        </p:nvSpPr>
        <p:spPr>
          <a:xfrm>
            <a:off x="5042263" y="4807132"/>
            <a:ext cx="2390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Amerigo Oddi</a:t>
            </a:r>
          </a:p>
          <a:p>
            <a:pPr algn="ctr"/>
            <a:r>
              <a:rPr lang="it-IT" dirty="0"/>
              <a:t>Matteo Palazzo</a:t>
            </a:r>
          </a:p>
          <a:p>
            <a:pPr algn="ctr"/>
            <a:r>
              <a:rPr lang="it-IT" dirty="0"/>
              <a:t>Riccardo Pompili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4D4B71A-524D-411B-CFF6-19CD3E98C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2A2AECEB-2DCE-ED26-FC34-804A464B2FE4}"/>
              </a:ext>
            </a:extLst>
          </p:cNvPr>
          <p:cNvSpPr/>
          <p:nvPr/>
        </p:nvSpPr>
        <p:spPr>
          <a:xfrm>
            <a:off x="2497258" y="785852"/>
            <a:ext cx="71974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Master in Data Analytics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E347295-CE7D-179E-8AE0-6EF45479E907}"/>
              </a:ext>
            </a:extLst>
          </p:cNvPr>
          <p:cNvSpPr/>
          <p:nvPr/>
        </p:nvSpPr>
        <p:spPr>
          <a:xfrm>
            <a:off x="3573065" y="1709182"/>
            <a:ext cx="50458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Capstone</a:t>
            </a:r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Project</a:t>
            </a:r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53AC60A-1A10-A3F9-D227-0F08E55E64F4}"/>
              </a:ext>
            </a:extLst>
          </p:cNvPr>
          <p:cNvSpPr/>
          <p:nvPr/>
        </p:nvSpPr>
        <p:spPr>
          <a:xfrm>
            <a:off x="1143434" y="3094177"/>
            <a:ext cx="9905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Case study: The Look E-commerce</a:t>
            </a:r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550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A274859-AFE2-52C2-3D3C-0F5833714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C66F9D90-E1FA-4B34-84DE-BC36274A5F9E}"/>
              </a:ext>
            </a:extLst>
          </p:cNvPr>
          <p:cNvSpPr/>
          <p:nvPr/>
        </p:nvSpPr>
        <p:spPr>
          <a:xfrm>
            <a:off x="1380320" y="63594"/>
            <a:ext cx="94313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Star schema and data </a:t>
            </a:r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extraction</a:t>
            </a:r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8C97E8-C336-5C45-2913-EA4381449049}"/>
              </a:ext>
            </a:extLst>
          </p:cNvPr>
          <p:cNvSpPr txBox="1"/>
          <p:nvPr/>
        </p:nvSpPr>
        <p:spPr>
          <a:xfrm>
            <a:off x="6838406" y="1365069"/>
            <a:ext cx="4251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Dataframe</a:t>
            </a:r>
            <a:r>
              <a:rPr lang="it-IT" sz="3600" dirty="0"/>
              <a:t> </a:t>
            </a:r>
            <a:r>
              <a:rPr lang="it-IT" sz="3600" dirty="0" err="1"/>
              <a:t>preliminary</a:t>
            </a:r>
            <a:r>
              <a:rPr lang="it-IT" sz="3600" dirty="0"/>
              <a:t> </a:t>
            </a:r>
            <a:r>
              <a:rPr lang="it-IT" sz="3600" dirty="0" err="1"/>
              <a:t>analysis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Star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Data </a:t>
            </a:r>
            <a:r>
              <a:rPr lang="it-IT" sz="3600" dirty="0" err="1"/>
              <a:t>selection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SQL queries for data </a:t>
            </a:r>
            <a:r>
              <a:rPr lang="it-IT" sz="3600" dirty="0" err="1"/>
              <a:t>extraction</a:t>
            </a:r>
            <a:r>
              <a:rPr lang="it-IT" sz="3600" dirty="0"/>
              <a:t> and date format </a:t>
            </a:r>
            <a:r>
              <a:rPr lang="it-IT" sz="3600" dirty="0" err="1"/>
              <a:t>correction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.csv download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endParaRPr lang="it-IT" dirty="0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682706B9-3F19-389F-E284-7F1295E19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1045028"/>
            <a:ext cx="5727313" cy="558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9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C8E27-B187-0775-B298-9927F647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C5E9FF9-5CE0-3483-4034-EC9740598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178546E3-1079-AA1E-DF91-0F1BE9908378}"/>
              </a:ext>
            </a:extLst>
          </p:cNvPr>
          <p:cNvSpPr/>
          <p:nvPr/>
        </p:nvSpPr>
        <p:spPr>
          <a:xfrm>
            <a:off x="2387611" y="293913"/>
            <a:ext cx="77493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 </a:t>
            </a:r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cleaning</a:t>
            </a:r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and </a:t>
            </a:r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analysis</a:t>
            </a:r>
            <a:endParaRPr lang="it-IT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D9DB9A-CF06-6E9D-2C12-C756D706D1F3}"/>
              </a:ext>
            </a:extLst>
          </p:cNvPr>
          <p:cNvSpPr txBox="1"/>
          <p:nvPr/>
        </p:nvSpPr>
        <p:spPr>
          <a:xfrm>
            <a:off x="1623156" y="2190284"/>
            <a:ext cx="76752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.csv import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Format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Data </a:t>
            </a:r>
            <a:r>
              <a:rPr lang="it-IT" sz="3600" dirty="0" err="1"/>
              <a:t>validation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Descriptive</a:t>
            </a:r>
            <a:r>
              <a:rPr lang="it-IT" sz="3600" dirty="0"/>
              <a:t> </a:t>
            </a:r>
            <a:r>
              <a:rPr lang="it-IT" sz="3600" dirty="0" err="1"/>
              <a:t>statistics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Supplementary</a:t>
            </a:r>
            <a:r>
              <a:rPr lang="it-IT" sz="3600" dirty="0"/>
              <a:t> </a:t>
            </a:r>
            <a:r>
              <a:rPr lang="it-IT" sz="3600" dirty="0" err="1"/>
              <a:t>columns</a:t>
            </a:r>
            <a:r>
              <a:rPr lang="it-IT" sz="3600" dirty="0"/>
              <a:t> </a:t>
            </a:r>
            <a:r>
              <a:rPr lang="it-IT" sz="3600" dirty="0" err="1"/>
              <a:t>calculation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.csv export</a:t>
            </a:r>
            <a:endParaRPr lang="it-IT" dirty="0"/>
          </a:p>
        </p:txBody>
      </p:sp>
      <p:pic>
        <p:nvPicPr>
          <p:cNvPr id="1028" name="Picture 4" descr="Python Logo">
            <a:extLst>
              <a:ext uri="{FF2B5EF4-FFF2-40B4-BE49-F238E27FC236}">
                <a16:creationId xmlns:a16="http://schemas.microsoft.com/office/drawing/2014/main" id="{F4D1DC8C-CB87-C173-8E0F-1CA9A6CB2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275" y="1251396"/>
            <a:ext cx="47625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23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377C6-6A39-6C7E-72C5-E3C60BA2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0300C6F-B8B3-20E5-EBF9-F4C7E6C12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DC3ED4C8-4015-4EF6-6954-6D4DAED1FE88}"/>
              </a:ext>
            </a:extLst>
          </p:cNvPr>
          <p:cNvSpPr/>
          <p:nvPr/>
        </p:nvSpPr>
        <p:spPr>
          <a:xfrm>
            <a:off x="3420179" y="181178"/>
            <a:ext cx="53516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 </a:t>
            </a:r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Visualization</a:t>
            </a:r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9600663-6CF6-6628-C43A-2C507F1BF14E}"/>
              </a:ext>
            </a:extLst>
          </p:cNvPr>
          <p:cNvSpPr txBox="1"/>
          <p:nvPr/>
        </p:nvSpPr>
        <p:spPr>
          <a:xfrm>
            <a:off x="6235337" y="1582340"/>
            <a:ext cx="53516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Data import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KPI </a:t>
            </a:r>
            <a:r>
              <a:rPr lang="it-IT" sz="3600" dirty="0" err="1"/>
              <a:t>definition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Layout </a:t>
            </a:r>
            <a:r>
              <a:rPr lang="it-IT" sz="3600" dirty="0" err="1"/>
              <a:t>definition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Measure</a:t>
            </a:r>
            <a:r>
              <a:rPr lang="it-IT" sz="3600" dirty="0"/>
              <a:t> </a:t>
            </a:r>
            <a:r>
              <a:rPr lang="it-IT" sz="3600" dirty="0" err="1"/>
              <a:t>creation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Visuals </a:t>
            </a:r>
            <a:r>
              <a:rPr lang="it-IT" sz="3600" dirty="0" err="1"/>
              <a:t>configuration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Graphic </a:t>
            </a:r>
            <a:r>
              <a:rPr lang="it-IT" sz="3600" dirty="0" err="1"/>
              <a:t>adjustments</a:t>
            </a:r>
            <a:endParaRPr lang="it-IT" dirty="0"/>
          </a:p>
          <a:p>
            <a:endParaRPr lang="it-IT" dirty="0"/>
          </a:p>
        </p:txBody>
      </p:sp>
      <p:pic>
        <p:nvPicPr>
          <p:cNvPr id="2054" name="Picture 6" descr="Microsoft Power BI Logo and symbol, meaning, history, PNG, brand">
            <a:extLst>
              <a:ext uri="{FF2B5EF4-FFF2-40B4-BE49-F238E27FC236}">
                <a16:creationId xmlns:a16="http://schemas.microsoft.com/office/drawing/2014/main" id="{74A304F7-749C-F8DF-7DBE-F6DC9B9EA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42" y="1764884"/>
            <a:ext cx="4480031" cy="252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ower Bi Logo PNG Images Transparent Free Download">
            <a:extLst>
              <a:ext uri="{FF2B5EF4-FFF2-40B4-BE49-F238E27FC236}">
                <a16:creationId xmlns:a16="http://schemas.microsoft.com/office/drawing/2014/main" id="{4A135F73-721B-1863-CEC1-17CEE8500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65"/>
          <a:stretch>
            <a:fillRect/>
          </a:stretch>
        </p:blipFill>
        <p:spPr bwMode="auto">
          <a:xfrm>
            <a:off x="831673" y="3950794"/>
            <a:ext cx="4870463" cy="182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73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34841-F990-EF1F-2510-8FCB29A0F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67C0D47-A15E-14DB-7056-FAF4D02CF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7C79AA8-7A6B-90C4-3E57-15AE8CE7F26C}"/>
              </a:ext>
            </a:extLst>
          </p:cNvPr>
          <p:cNvSpPr/>
          <p:nvPr/>
        </p:nvSpPr>
        <p:spPr>
          <a:xfrm>
            <a:off x="3990051" y="546920"/>
            <a:ext cx="4211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Statistical test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F4A54A2-5CB2-27FC-6187-830859AE5E54}"/>
              </a:ext>
            </a:extLst>
          </p:cNvPr>
          <p:cNvSpPr txBox="1"/>
          <p:nvPr/>
        </p:nvSpPr>
        <p:spPr>
          <a:xfrm>
            <a:off x="537755" y="1695552"/>
            <a:ext cx="11338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Permutation</a:t>
            </a:r>
            <a:r>
              <a:rPr lang="it-IT" sz="3600" dirty="0"/>
              <a:t> test: </a:t>
            </a:r>
            <a:r>
              <a:rPr lang="it-IT" sz="3600" dirty="0" err="1"/>
              <a:t>is</a:t>
            </a:r>
            <a:r>
              <a:rPr lang="it-IT" sz="3600" dirty="0"/>
              <a:t> e-mail more </a:t>
            </a:r>
            <a:r>
              <a:rPr lang="it-IT" sz="3600" dirty="0" err="1"/>
              <a:t>effective</a:t>
            </a:r>
            <a:r>
              <a:rPr lang="it-IT" sz="3600" dirty="0"/>
              <a:t> </a:t>
            </a:r>
            <a:r>
              <a:rPr lang="it-IT" sz="3600" dirty="0" err="1"/>
              <a:t>than</a:t>
            </a:r>
            <a:r>
              <a:rPr lang="it-IT" sz="3600" dirty="0"/>
              <a:t> </a:t>
            </a:r>
            <a:r>
              <a:rPr lang="it-IT" sz="3600" dirty="0" err="1"/>
              <a:t>AdWord</a:t>
            </a:r>
            <a:r>
              <a:rPr lang="it-IT" sz="36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ANOVA test: </a:t>
            </a:r>
            <a:r>
              <a:rPr lang="it-IT" sz="3600" dirty="0" err="1"/>
              <a:t>does</a:t>
            </a:r>
            <a:r>
              <a:rPr lang="it-IT" sz="3600" dirty="0"/>
              <a:t> delivery performance </a:t>
            </a:r>
            <a:r>
              <a:rPr lang="it-IT" sz="3600" dirty="0" err="1"/>
              <a:t>depends</a:t>
            </a:r>
            <a:r>
              <a:rPr lang="it-IT" sz="3600" dirty="0"/>
              <a:t> on </a:t>
            </a:r>
            <a:r>
              <a:rPr lang="it-IT" sz="3600" dirty="0" err="1"/>
              <a:t>distribution</a:t>
            </a:r>
            <a:r>
              <a:rPr lang="it-IT" sz="3600" dirty="0"/>
              <a:t> centers?</a:t>
            </a:r>
          </a:p>
          <a:p>
            <a:endParaRPr lang="it-IT" dirty="0"/>
          </a:p>
        </p:txBody>
      </p:sp>
      <p:pic>
        <p:nvPicPr>
          <p:cNvPr id="5" name="Picture 4" descr="Python Logo">
            <a:extLst>
              <a:ext uri="{FF2B5EF4-FFF2-40B4-BE49-F238E27FC236}">
                <a16:creationId xmlns:a16="http://schemas.microsoft.com/office/drawing/2014/main" id="{B393D38A-B275-C525-33D3-757B1C25A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126" y="3089365"/>
            <a:ext cx="47625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393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TM03457464[[fn=Dividendi]]</Template>
  <TotalTime>213</TotalTime>
  <Words>98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Amerigo Oddi</dc:creator>
  <cp:lastModifiedBy>Amerigo Oddi</cp:lastModifiedBy>
  <cp:revision>13</cp:revision>
  <dcterms:created xsi:type="dcterms:W3CDTF">2026-02-15T15:15:31Z</dcterms:created>
  <dcterms:modified xsi:type="dcterms:W3CDTF">2026-02-25T19:02:46Z</dcterms:modified>
</cp:coreProperties>
</file>