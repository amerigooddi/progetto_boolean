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2477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Title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62399" y="1964267"/>
            <a:ext cx="7197726" cy="2421464"/>
          </a:xfrm>
        </p:spPr>
        <p:txBody>
          <a:bodyPr anchor="b">
            <a:normAutofit/>
          </a:bodyPr>
          <a:lstStyle>
            <a:lvl1pPr algn="r">
              <a:defRPr sz="4800">
                <a:effectLst/>
              </a:defRPr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62399" y="4385732"/>
            <a:ext cx="7197726" cy="1405467"/>
          </a:xfrm>
        </p:spPr>
        <p:txBody>
          <a:bodyPr anchor="t">
            <a:normAutofit/>
          </a:bodyPr>
          <a:lstStyle>
            <a:lvl1pPr marL="0" indent="0" algn="r">
              <a:buNone/>
              <a:defRPr sz="1800" cap="all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it-IT"/>
              <a:t>Fare clic per modificare lo stile del sottotitolo dello schema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32558" y="5870575"/>
            <a:ext cx="1600200" cy="377825"/>
          </a:xfrm>
        </p:spPr>
        <p:txBody>
          <a:bodyPr/>
          <a:lstStyle/>
          <a:p>
            <a:fld id="{B61BEF0D-F0BB-DE4B-95CE-6DB70DBA9567}" type="datetimeFigureOut">
              <a:rPr lang="en-US" dirty="0"/>
              <a:pPr/>
              <a:t>2/20/2026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962399" y="5870575"/>
            <a:ext cx="4893958" cy="3778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08958" y="5870575"/>
            <a:ext cx="551167" cy="3778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‹N›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308581"/>
            <a:ext cx="10131427" cy="1468800"/>
          </a:xfrm>
        </p:spPr>
        <p:txBody>
          <a:bodyPr anchor="b"/>
          <a:lstStyle>
            <a:lvl1pPr algn="l">
              <a:defRPr sz="4000" b="0" cap="all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7381"/>
            <a:ext cx="1013142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 cap="all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2" y="2142067"/>
            <a:ext cx="4995334" cy="3649134"/>
          </a:xfrm>
        </p:spPr>
        <p:txBody>
          <a:bodyPr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21895" y="2142067"/>
            <a:ext cx="4995332" cy="3649133"/>
          </a:xfrm>
        </p:spPr>
        <p:txBody>
          <a:bodyPr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2/20/2026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3670" y="2218267"/>
            <a:ext cx="470905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1" y="2870201"/>
            <a:ext cx="4996923" cy="2920998"/>
          </a:xfrm>
        </p:spPr>
        <p:txBody>
          <a:bodyPr anchor="t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96003" y="2226734"/>
            <a:ext cx="4722813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23483" y="2870201"/>
            <a:ext cx="4995334" cy="2920998"/>
          </a:xfrm>
        </p:spPr>
        <p:txBody>
          <a:bodyPr anchor="t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2/20/2026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2/20/2026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2/20/2026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074333"/>
            <a:ext cx="3680885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48201" y="609601"/>
            <a:ext cx="6169026" cy="5181600"/>
          </a:xfrm>
        </p:spPr>
        <p:txBody>
          <a:bodyPr anchor="ctr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445933"/>
            <a:ext cx="3680885" cy="1828800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2/20/2026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600200"/>
            <a:ext cx="6164653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36253" y="914400"/>
            <a:ext cx="3280974" cy="4572000"/>
          </a:xfrm>
          <a:prstGeom prst="roundRect">
            <a:avLst>
              <a:gd name="adj" fmla="val 42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2971800"/>
            <a:ext cx="6164653" cy="1828800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2/20/2026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magine panoramica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4732865"/>
            <a:ext cx="1013142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71600" y="932112"/>
            <a:ext cx="8759827" cy="3164976"/>
          </a:xfrm>
          <a:prstGeom prst="roundRect">
            <a:avLst>
              <a:gd name="adj" fmla="val 43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299603"/>
            <a:ext cx="10131427" cy="49371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2/20/2026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 e sotto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3124199"/>
          </a:xfrm>
        </p:spPr>
        <p:txBody>
          <a:bodyPr anchor="ctr">
            <a:normAutofit/>
          </a:bodyPr>
          <a:lstStyle>
            <a:lvl1pPr algn="l">
              <a:defRPr sz="32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zio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97875" y="3352800"/>
            <a:ext cx="9339184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7465" y="4343400"/>
            <a:ext cx="10152367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eda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2" y="3308581"/>
            <a:ext cx="10131425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4777381"/>
            <a:ext cx="10131426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eda nome cita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0" y="3886200"/>
            <a:ext cx="10135436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it-IT"/>
              <a:t>Fare clic per modificare gli stili del testo dello schema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5200"/>
            <a:ext cx="10135436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o o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1" y="3505200"/>
            <a:ext cx="10131428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it-IT"/>
              <a:t>Fare clic per modificare gli stili del testo dello schema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‹N›</a:t>
            </a:fld>
            <a:endParaRPr lang="en-US" dirty="0"/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8675" y="609599"/>
            <a:ext cx="2158552" cy="5181601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09600"/>
            <a:ext cx="7832116" cy="5181600"/>
          </a:xfrm>
        </p:spPr>
        <p:txBody>
          <a:bodyPr vert="eaVert" anchor="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2142067"/>
            <a:ext cx="10131425" cy="36491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89660" y="5870575"/>
            <a:ext cx="1600200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B61BEF0D-F0BB-DE4B-95CE-6DB70DBA9567}" type="datetimeFigureOut">
              <a:rPr lang="en-US" dirty="0"/>
              <a:pPr/>
              <a:t>2/20/2026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5870575"/>
            <a:ext cx="7827659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66060" y="5870575"/>
            <a:ext cx="551167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D57F1E4F-1CFF-5643-939E-217C01CDF565}" type="slidenum">
              <a:rPr lang="en-US" dirty="0"/>
              <a:pPr/>
              <a:t>‹N›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0" r:id="rId9"/>
    <p:sldLayoutId id="2147483657" r:id="rId10"/>
    <p:sldLayoutId id="2147483663" r:id="rId11"/>
    <p:sldLayoutId id="2147483664" r:id="rId12"/>
    <p:sldLayoutId id="2147483665" r:id="rId13"/>
    <p:sldLayoutId id="2147483668" r:id="rId14"/>
    <p:sldLayoutId id="2147483667" r:id="rId15"/>
    <p:sldLayoutId id="2147483658" r:id="rId16"/>
    <p:sldLayoutId id="2147483659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sellaDiTesto 3">
            <a:extLst>
              <a:ext uri="{FF2B5EF4-FFF2-40B4-BE49-F238E27FC236}">
                <a16:creationId xmlns:a16="http://schemas.microsoft.com/office/drawing/2014/main" id="{95728FE4-00A5-42FE-6939-56E02410202C}"/>
              </a:ext>
            </a:extLst>
          </p:cNvPr>
          <p:cNvSpPr txBox="1"/>
          <p:nvPr/>
        </p:nvSpPr>
        <p:spPr>
          <a:xfrm>
            <a:off x="5042263" y="4807132"/>
            <a:ext cx="239050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Amerigo Oddi</a:t>
            </a:r>
          </a:p>
          <a:p>
            <a:pPr algn="ctr"/>
            <a:r>
              <a:rPr lang="it-IT" dirty="0"/>
              <a:t>Matteo Palazzo</a:t>
            </a:r>
          </a:p>
          <a:p>
            <a:pPr algn="ctr"/>
            <a:r>
              <a:rPr lang="it-IT" dirty="0"/>
              <a:t>Riccardo Pompili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D4D4B71A-524D-411B-CFF6-19CD3E98CA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8377" y="6004783"/>
            <a:ext cx="2488674" cy="559304"/>
          </a:xfrm>
          <a:prstGeom prst="rect">
            <a:avLst/>
          </a:prstGeom>
        </p:spPr>
      </p:pic>
      <p:sp>
        <p:nvSpPr>
          <p:cNvPr id="7" name="Rettangolo 6">
            <a:extLst>
              <a:ext uri="{FF2B5EF4-FFF2-40B4-BE49-F238E27FC236}">
                <a16:creationId xmlns:a16="http://schemas.microsoft.com/office/drawing/2014/main" id="{2A2AECEB-2DCE-ED26-FC34-804A464B2FE4}"/>
              </a:ext>
            </a:extLst>
          </p:cNvPr>
          <p:cNvSpPr/>
          <p:nvPr/>
        </p:nvSpPr>
        <p:spPr>
          <a:xfrm>
            <a:off x="2497258" y="785852"/>
            <a:ext cx="719748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it-IT" sz="5400" b="1" cap="none" spc="0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Master in Data Analytics</a:t>
            </a:r>
          </a:p>
        </p:txBody>
      </p:sp>
      <p:sp>
        <p:nvSpPr>
          <p:cNvPr id="8" name="Rettangolo 7">
            <a:extLst>
              <a:ext uri="{FF2B5EF4-FFF2-40B4-BE49-F238E27FC236}">
                <a16:creationId xmlns:a16="http://schemas.microsoft.com/office/drawing/2014/main" id="{DE347295-CE7D-179E-8AE0-6EF45479E907}"/>
              </a:ext>
            </a:extLst>
          </p:cNvPr>
          <p:cNvSpPr/>
          <p:nvPr/>
        </p:nvSpPr>
        <p:spPr>
          <a:xfrm>
            <a:off x="3573065" y="1709182"/>
            <a:ext cx="5045870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it-IT" sz="5400" b="1" dirty="0" err="1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Capstone</a:t>
            </a:r>
            <a:r>
              <a:rPr lang="it-IT" sz="54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 Project</a:t>
            </a:r>
            <a:endParaRPr lang="it-IT" sz="5400" b="1" cap="none" spc="0" dirty="0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12700" dist="38100" dir="2700000" algn="tl" rotWithShape="0">
                  <a:schemeClr val="bg1">
                    <a:lumMod val="50000"/>
                  </a:schemeClr>
                </a:outerShdw>
              </a:effectLst>
            </a:endParaRPr>
          </a:p>
        </p:txBody>
      </p:sp>
      <p:sp>
        <p:nvSpPr>
          <p:cNvPr id="2" name="Rettangolo 1">
            <a:extLst>
              <a:ext uri="{FF2B5EF4-FFF2-40B4-BE49-F238E27FC236}">
                <a16:creationId xmlns:a16="http://schemas.microsoft.com/office/drawing/2014/main" id="{C53AC60A-1A10-A3F9-D227-0F08E55E64F4}"/>
              </a:ext>
            </a:extLst>
          </p:cNvPr>
          <p:cNvSpPr/>
          <p:nvPr/>
        </p:nvSpPr>
        <p:spPr>
          <a:xfrm>
            <a:off x="1143434" y="3094177"/>
            <a:ext cx="990514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it-IT" sz="54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Case study: The Look E-commerce</a:t>
            </a:r>
            <a:endParaRPr lang="it-IT" sz="5400" b="1" cap="none" spc="0" dirty="0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12700" dist="38100" dir="2700000" algn="tl" rotWithShape="0">
                  <a:schemeClr val="bg1">
                    <a:lumMod val="5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9955042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>
            <a:extLst>
              <a:ext uri="{FF2B5EF4-FFF2-40B4-BE49-F238E27FC236}">
                <a16:creationId xmlns:a16="http://schemas.microsoft.com/office/drawing/2014/main" id="{6A274859-AFE2-52C2-3D3C-0F5833714F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8377" y="6004783"/>
            <a:ext cx="2488674" cy="559304"/>
          </a:xfrm>
          <a:prstGeom prst="rect">
            <a:avLst/>
          </a:prstGeom>
        </p:spPr>
      </p:pic>
      <p:sp>
        <p:nvSpPr>
          <p:cNvPr id="3" name="Rettangolo 2">
            <a:extLst>
              <a:ext uri="{FF2B5EF4-FFF2-40B4-BE49-F238E27FC236}">
                <a16:creationId xmlns:a16="http://schemas.microsoft.com/office/drawing/2014/main" id="{C66F9D90-E1FA-4B34-84DE-BC36274A5F9E}"/>
              </a:ext>
            </a:extLst>
          </p:cNvPr>
          <p:cNvSpPr/>
          <p:nvPr/>
        </p:nvSpPr>
        <p:spPr>
          <a:xfrm>
            <a:off x="4157171" y="546920"/>
            <a:ext cx="387766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it-IT" sz="54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Data schema</a:t>
            </a:r>
            <a:endParaRPr lang="it-IT" sz="5400" b="1" cap="none" spc="0" dirty="0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12700" dist="38100" dir="2700000" algn="tl" rotWithShape="0">
                  <a:schemeClr val="bg1">
                    <a:lumMod val="5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9151912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5C8E27-B187-0775-B298-9927F6472A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>
            <a:extLst>
              <a:ext uri="{FF2B5EF4-FFF2-40B4-BE49-F238E27FC236}">
                <a16:creationId xmlns:a16="http://schemas.microsoft.com/office/drawing/2014/main" id="{FC5E9FF9-5CE0-3483-4034-EC9740598C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8377" y="6004783"/>
            <a:ext cx="2488674" cy="559304"/>
          </a:xfrm>
          <a:prstGeom prst="rect">
            <a:avLst/>
          </a:prstGeom>
        </p:spPr>
      </p:pic>
      <p:sp>
        <p:nvSpPr>
          <p:cNvPr id="4" name="Rettangolo 3">
            <a:extLst>
              <a:ext uri="{FF2B5EF4-FFF2-40B4-BE49-F238E27FC236}">
                <a16:creationId xmlns:a16="http://schemas.microsoft.com/office/drawing/2014/main" id="{178546E3-1079-AA1E-DF91-0F1BE9908378}"/>
              </a:ext>
            </a:extLst>
          </p:cNvPr>
          <p:cNvSpPr/>
          <p:nvPr/>
        </p:nvSpPr>
        <p:spPr>
          <a:xfrm>
            <a:off x="4121905" y="546920"/>
            <a:ext cx="394819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it-IT" sz="54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SQL / </a:t>
            </a:r>
            <a:r>
              <a:rPr lang="it-IT" sz="5400" b="1" dirty="0" err="1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python</a:t>
            </a:r>
            <a:endParaRPr lang="it-IT" sz="5400" b="1" cap="none" spc="0" dirty="0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12700" dist="38100" dir="2700000" algn="tl" rotWithShape="0">
                  <a:schemeClr val="bg1">
                    <a:lumMod val="5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7452307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7B377C6-6A39-6C7E-72C5-E3C60BA2E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>
            <a:extLst>
              <a:ext uri="{FF2B5EF4-FFF2-40B4-BE49-F238E27FC236}">
                <a16:creationId xmlns:a16="http://schemas.microsoft.com/office/drawing/2014/main" id="{D0300C6F-B8B3-20E5-EBF9-F4C7E6C124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8377" y="6004783"/>
            <a:ext cx="2488674" cy="559304"/>
          </a:xfrm>
          <a:prstGeom prst="rect">
            <a:avLst/>
          </a:prstGeom>
        </p:spPr>
      </p:pic>
      <p:sp>
        <p:nvSpPr>
          <p:cNvPr id="3" name="Rettangolo 2">
            <a:extLst>
              <a:ext uri="{FF2B5EF4-FFF2-40B4-BE49-F238E27FC236}">
                <a16:creationId xmlns:a16="http://schemas.microsoft.com/office/drawing/2014/main" id="{DC3ED4C8-4015-4EF6-6954-6D4DAED1FE88}"/>
              </a:ext>
            </a:extLst>
          </p:cNvPr>
          <p:cNvSpPr/>
          <p:nvPr/>
        </p:nvSpPr>
        <p:spPr>
          <a:xfrm>
            <a:off x="3420179" y="546920"/>
            <a:ext cx="5351658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it-IT" sz="54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Data </a:t>
            </a:r>
            <a:r>
              <a:rPr lang="it-IT" sz="5400" b="1" dirty="0" err="1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Visualization</a:t>
            </a:r>
            <a:endParaRPr lang="it-IT" sz="5400" b="1" cap="none" spc="0" dirty="0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12700" dist="38100" dir="2700000" algn="tl" rotWithShape="0">
                  <a:schemeClr val="bg1">
                    <a:lumMod val="5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2177363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FF34841-F990-EF1F-2510-8FCB29A0FF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>
            <a:extLst>
              <a:ext uri="{FF2B5EF4-FFF2-40B4-BE49-F238E27FC236}">
                <a16:creationId xmlns:a16="http://schemas.microsoft.com/office/drawing/2014/main" id="{067C0D47-A15E-14DB-7056-FAF4D02CFB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8377" y="6004783"/>
            <a:ext cx="2488674" cy="559304"/>
          </a:xfrm>
          <a:prstGeom prst="rect">
            <a:avLst/>
          </a:prstGeom>
        </p:spPr>
      </p:pic>
      <p:sp>
        <p:nvSpPr>
          <p:cNvPr id="3" name="Rettangolo 2">
            <a:extLst>
              <a:ext uri="{FF2B5EF4-FFF2-40B4-BE49-F238E27FC236}">
                <a16:creationId xmlns:a16="http://schemas.microsoft.com/office/drawing/2014/main" id="{17C79AA8-7A6B-90C4-3E57-15AE8CE7F26C}"/>
              </a:ext>
            </a:extLst>
          </p:cNvPr>
          <p:cNvSpPr/>
          <p:nvPr/>
        </p:nvSpPr>
        <p:spPr>
          <a:xfrm>
            <a:off x="3576153" y="546920"/>
            <a:ext cx="503971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it-IT" sz="5400" b="1" cap="none" spc="0" dirty="0" err="1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Permutation</a:t>
            </a:r>
            <a:r>
              <a:rPr lang="it-IT" sz="5400" b="1" cap="none" spc="0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 test</a:t>
            </a:r>
          </a:p>
        </p:txBody>
      </p:sp>
    </p:spTree>
    <p:extLst>
      <p:ext uri="{BB962C8B-B14F-4D97-AF65-F5344CB8AC3E}">
        <p14:creationId xmlns:p14="http://schemas.microsoft.com/office/powerpoint/2010/main" val="213539366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elestiale">
  <a:themeElements>
    <a:clrScheme name="Celestial">
      <a:dk1>
        <a:sysClr val="windowText" lastClr="000000"/>
      </a:dk1>
      <a:lt1>
        <a:sysClr val="window" lastClr="FFFFFF"/>
      </a:lt1>
      <a:dk2>
        <a:srgbClr val="18276C"/>
      </a:dk2>
      <a:lt2>
        <a:srgbClr val="EBEBEB"/>
      </a:lt2>
      <a:accent1>
        <a:srgbClr val="AC3EC1"/>
      </a:accent1>
      <a:accent2>
        <a:srgbClr val="477BD1"/>
      </a:accent2>
      <a:accent3>
        <a:srgbClr val="46B298"/>
      </a:accent3>
      <a:accent4>
        <a:srgbClr val="90BA4C"/>
      </a:accent4>
      <a:accent5>
        <a:srgbClr val="DD9D31"/>
      </a:accent5>
      <a:accent6>
        <a:srgbClr val="E25247"/>
      </a:accent6>
      <a:hlink>
        <a:srgbClr val="C573D2"/>
      </a:hlink>
      <a:folHlink>
        <a:srgbClr val="CCAEE8"/>
      </a:folHlink>
    </a:clrScheme>
    <a:fontScheme name="Celestial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elestial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lumMod val="110000"/>
              </a:schemeClr>
            </a:gs>
            <a:gs pos="100000">
              <a:schemeClr val="phClr">
                <a:tint val="82000"/>
                <a:alpha val="7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00000"/>
              </a:schemeClr>
            </a:gs>
            <a:gs pos="100000">
              <a:schemeClr val="phClr">
                <a:shade val="88000"/>
                <a:lumMod val="88000"/>
              </a:schemeClr>
            </a:gs>
          </a:gsLst>
          <a:lin ang="5400000" scaled="1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5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shade val="96000"/>
                <a:hueMod val="100000"/>
                <a:satMod val="180000"/>
                <a:lumMod val="110000"/>
              </a:schemeClr>
            </a:gs>
            <a:gs pos="100000">
              <a:schemeClr val="phClr">
                <a:shade val="96000"/>
                <a:satMod val="160000"/>
                <a:lumMod val="100000"/>
              </a:schemeClr>
            </a:gs>
          </a:gsLst>
          <a:lin ang="4740000" scaled="1"/>
        </a:gradFill>
        <a:blipFill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elestial" id="{C4BB2A3D-0E93-4C5F-B0D2-9D3FCE089CC5}" vid="{42E5908D-19A2-46FD-89FA-638B126129E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TM03457464[[fn=Dividendi]]</Template>
  <TotalTime>73</TotalTime>
  <Words>27</Words>
  <Application>Microsoft Office PowerPoint</Application>
  <PresentationFormat>Widescreen</PresentationFormat>
  <Paragraphs>10</Paragraphs>
  <Slides>5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Celestiale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Amerigo Oddi</dc:creator>
  <cp:lastModifiedBy>Amerigo Oddi</cp:lastModifiedBy>
  <cp:revision>5</cp:revision>
  <dcterms:created xsi:type="dcterms:W3CDTF">2026-02-15T15:15:31Z</dcterms:created>
  <dcterms:modified xsi:type="dcterms:W3CDTF">2026-02-20T17:03:46Z</dcterms:modified>
</cp:coreProperties>
</file>